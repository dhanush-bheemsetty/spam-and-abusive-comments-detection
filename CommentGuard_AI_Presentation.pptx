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</a:defRPr>
            </a:pPr>
            <a:r>
              <a:t>CommentGuard AI</a:t>
            </a:r>
          </a:p>
          <a:p>
            <a:pPr>
              <a:defRPr sz="2000" b="1">
                <a:solidFill>
                  <a:srgbClr val="059669"/>
                </a:solidFill>
              </a:defRPr>
            </a:pPr>
            <a:r>
              <a:t>Cascaded AI Moderation Architecture for Cooking Video Platforms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Candidate: Bheemsetty Dhanush | Position: Eminence Campus Drive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200400"/>
            <a:ext cx="2880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The Challenge</a:t>
            </a:r>
          </a:p>
          <a:p>
            <a:pPr>
              <a:spcBef>
                <a:spcPts val="1000"/>
              </a:spcBef>
              <a:defRPr sz="1200">
                <a:solidFill>
                  <a:srgbClr val="64748B"/>
                </a:solidFill>
              </a:defRPr>
            </a:pPr>
            <a:r>
              <a:t>20,000 comments/day across cooking videos.</a:t>
            </a:r>
            <a:br/>
            <a:r>
              <a:t>Spam links, abusive comments, and unauthorized promotions degrade creator engagement.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92608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3200400"/>
            <a:ext cx="2880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The Human Bottleneck</a:t>
            </a:r>
          </a:p>
          <a:p>
            <a:pPr>
              <a:spcBef>
                <a:spcPts val="1000"/>
              </a:spcBef>
              <a:defRPr sz="1200">
                <a:solidFill>
                  <a:srgbClr val="64748B"/>
                </a:solidFill>
              </a:defRPr>
            </a:pPr>
            <a:r>
              <a:t>Only 2 human moderators available.</a:t>
            </a:r>
            <a:br/>
            <a:r>
              <a:t>Realistically, 2 people can only review ~1,000 to 1,500 items daily. Manual review is impossible.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92608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200400"/>
            <a:ext cx="2880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The Solution Strategy</a:t>
            </a:r>
          </a:p>
          <a:p>
            <a:pPr>
              <a:spcBef>
                <a:spcPts val="1000"/>
              </a:spcBef>
              <a:defRPr sz="1200">
                <a:solidFill>
                  <a:srgbClr val="64748B"/>
                </a:solidFill>
              </a:defRPr>
            </a:pPr>
            <a:r>
              <a:t>Cascaded 3-tier system: AI Rules -&gt; Classical ML -&gt; Small Transformer.</a:t>
            </a:r>
            <a:br/>
            <a:r>
              <a:t>AI auto-processes 94%; only ~320 borderline cases reach the 2 moderators.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ITC INFOTECH · EMINENCE CAMPUS DRIVE | SYSTEM ARCHITECTURE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The 3-Tier Cascade Architecture: AI ⊃ ML ⊃ DL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2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Layer 1: Deterministic AI Rules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Obvious Filters (~1ms latency)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• Regex for shorteners (bit.ly, t.me), telegram handles, and phone numbers.</a:t>
            </a:r>
            <a:br/>
            <a:r>
              <a:t>• Known spam domain blacklists and severe hate speech blocklists.</a:t>
            </a:r>
            <a:br/>
            <a:r>
              <a:t>• Cooking domain allowlist protects culinary verbs ('beat', 'kill the heat').</a:t>
            </a:r>
            <a:br/>
            <a:r>
              <a:t>• Catches 50-60% of obvious traffic at zero compute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7452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Layer 2: Classical Machine Learning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Probabilistic Scoring (~4ms latency)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• Feature extraction: TF-IDF, character n-grams, caps ratio, link counts.</a:t>
            </a:r>
            <a:br/>
            <a:r>
              <a:t>• Lightweight classifier: Logistic Regression / Naive Bayes.</a:t>
            </a:r>
            <a:br/>
            <a:r>
              <a:t>• Computes prior probabilities: P(fine), P(spam), P(abusive).</a:t>
            </a:r>
            <a:br/>
            <a:r>
              <a:t>• Fast workhorse handling bulk classification with full explainability.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87452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Layer 3: Small Transformer (DistilBERT)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Context &amp; Nuance (~14ms CPU)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• Fine-tuned 66M parameter DistilBERT model (NOT a bulky LLM).</a:t>
            </a:r>
            <a:br/>
            <a:r>
              <a:t>• Understands sentence structure, sentiment, and cooking slang.</a:t>
            </a:r>
            <a:br/>
            <a:r>
              <a:t>• Resolves ambiguous cases: 'killer recipe' (praise) vs. hostile threats.</a:t>
            </a:r>
            <a:br/>
            <a:r>
              <a:t>• Evaluates ONLY the remaining borderline cases (~15-20% of traffic).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603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87452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Layer 4: Human-in-the-Loop Safeguard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2 Moderators (~320 cases/day)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• Evaluates uncertain comments where confidence is 40% - 89%.</a:t>
            </a:r>
            <a:br/>
            <a:r>
              <a:t>• Moderators review a manageable backlog of ~160 comments each.</a:t>
            </a:r>
            <a:br/>
            <a:r>
              <a:t>• Every human decision generates a fresh active learning label.</a:t>
            </a:r>
            <a:br/>
            <a:r>
              <a:t>• Drives weekly model retraining and threshold recalibration.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ITC INFOTECH · EMINENCE CAMPUS DRIVE | QUESTION 1 &amp; 2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Classification Strategy &amp; Automated Action Policies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2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FINE COMMENTS (57%)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Confidence ≥ 90%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Definition:</a:t>
            </a:r>
            <a:br/>
            <a:r>
              <a:t>Constructive queries, recipe feedback, compliments ('Can I use oat milk?', 'Great recipe!').</a:t>
            </a:r>
            <a:br/>
            <a:br/>
            <a:r>
              <a:t>Automated Action:</a:t>
            </a:r>
            <a:br/>
            <a:r>
              <a:t>AUTO-PUBLISH immediately.</a:t>
            </a:r>
            <a:br/>
            <a:r>
              <a:t>Visible to all users instantly; zero creator friction.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87452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SPAM COMMENTS (21%)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Confidence ≥ 90% or URL regex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Definition:</a:t>
            </a:r>
            <a:br/>
            <a:r>
              <a:t>External redirect links (bit.ly), follower bots ('DM for promo'), financial scams.</a:t>
            </a:r>
            <a:br/>
            <a:br/>
            <a:r>
              <a:t>Automated Action:</a:t>
            </a:r>
            <a:br/>
            <a:r>
              <a:t>AUTO-HIDE &amp; LOG.</a:t>
            </a:r>
            <a:br/>
            <a:r>
              <a:t>Hidden from public view; repeat offending accounts receive shadowbans or captchas.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6032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7452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ABUSIVE COMMENTS (5%)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Confidence ≥ 90% or slur match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Definition:</a:t>
            </a:r>
            <a:br/>
            <a:r>
              <a:t>Direct ad-hominem harassment, hate speech, vulgarity targeting creators or users.</a:t>
            </a:r>
            <a:br/>
            <a:br/>
            <a:r>
              <a:t>Automated Action:</a:t>
            </a:r>
            <a:br/>
            <a:r>
              <a:t>AUTO-HIDE &amp; POLICY FLAG.</a:t>
            </a:r>
            <a:br/>
            <a:r>
              <a:t>Hidden instantly; triggers safety strikes and temporary commenting cooldowns.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6032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87452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UNCLEAR / BORDERLINE (18%)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Confidence 40% - 89%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Definition:</a:t>
            </a:r>
            <a:br/>
            <a:r>
              <a:t>Sarcasm ('Wow, genius idea...'), vague links, mixed sentiment, or novel phrases.</a:t>
            </a:r>
            <a:br/>
            <a:br/>
            <a:r>
              <a:t>Automated Action:</a:t>
            </a:r>
            <a:br/>
            <a:r>
              <a:t>ROUTE TO MODERATOR QUEUE.</a:t>
            </a:r>
            <a:br/>
            <a:r>
              <a:t>Prioritized by risk score. 2 moderators review the top ~320 borderline cases.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ITC INFOTECH · EMINENCE CAMPUS DRIVE | QUESTION 3 &amp; 4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Avoiding False Positives &amp; Continuous 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Q3: Avoiding Hiding Genuine Comments</a:t>
            </a:r>
          </a:p>
          <a:p>
            <a:pPr>
              <a:spcBef>
                <a:spcPts val="1000"/>
              </a:spcBef>
              <a:defRPr b="1" sz="1100">
                <a:solidFill>
                  <a:srgbClr val="059669"/>
                </a:solidFill>
              </a:defRPr>
            </a:pPr>
            <a:r>
              <a:t>• Cooking Context Aware Model: 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Culinary terms like 'beat the eggs', 'kill the heat', or 'to die for' would trigger naive filters. DistilBERT evaluates sentence-level context to recognize culinary enthusiasm and technique.</a:t>
            </a:r>
          </a:p>
          <a:p>
            <a:pPr>
              <a:spcBef>
                <a:spcPts val="1000"/>
              </a:spcBef>
              <a:defRPr b="1" sz="1100">
                <a:solidFill>
                  <a:srgbClr val="059669"/>
                </a:solidFill>
              </a:defRPr>
            </a:pPr>
            <a:r>
              <a:t>• Asymmetric High Confidence Bar: 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We require ≥90% confidence to auto-hide. Borderline comments (75% spam) are routed to human review rather than being hidden by mistake. Preserving genuine audience engagement is priority #1.</a:t>
            </a:r>
          </a:p>
          <a:p>
            <a:pPr>
              <a:spcBef>
                <a:spcPts val="1000"/>
              </a:spcBef>
              <a:defRPr b="1" sz="1100">
                <a:solidFill>
                  <a:srgbClr val="059669"/>
                </a:solidFill>
              </a:defRPr>
            </a:pPr>
            <a:r>
              <a:t>• Creator Appeal &amp; Held Queue: 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Creators have access to a 'Held for Review' panel to restore false hides with 1 click. Users can submit an appeal, which reweights mislabeled comments in the training 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Q4: Keeping Up with New Spam Tricks</a:t>
            </a:r>
          </a:p>
          <a:p>
            <a:pPr>
              <a:spcBef>
                <a:spcPts val="1000"/>
              </a:spcBef>
              <a:defRPr b="1" sz="1100">
                <a:solidFill>
                  <a:srgbClr val="D97706"/>
                </a:solidFill>
              </a:defRPr>
            </a:pPr>
            <a:r>
              <a:t>• Active Learning Feedback Loop: 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Every moderator action (Approve/Hide/Escalate) becomes a labeled training example. The 2 moderators generate ~300 verified labels daily, continuously training the system on emerging tricks.</a:t>
            </a:r>
          </a:p>
          <a:p>
            <a:pPr>
              <a:spcBef>
                <a:spcPts val="1000"/>
              </a:spcBef>
              <a:defRPr b="1" sz="1100">
                <a:solidFill>
                  <a:srgbClr val="D97706"/>
                </a:solidFill>
              </a:defRPr>
            </a:pPr>
            <a:r>
              <a:t>• Adversarial Text Normalization: 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Spammers use spaces ('c-h-e-a-p'), zero-width unicode characters, and homoglyphs. Layer 1 preprocessing normalizes unicode characters and unshortens redirect links before classification.</a:t>
            </a:r>
          </a:p>
          <a:p>
            <a:pPr>
              <a:spcBef>
                <a:spcPts val="1000"/>
              </a:spcBef>
              <a:defRPr b="1" sz="1100">
                <a:solidFill>
                  <a:srgbClr val="D97706"/>
                </a:solidFill>
              </a:defRPr>
            </a:pPr>
            <a:r>
              <a:t>• Weekly Retraining &amp; Drift Monitoring: 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Weekly automated fine-tuning of DistilBERT on new labels. Concept drift is monitored: if False Positive rate rises above 2.5%, thresholds and rules automatically re-calibrate.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