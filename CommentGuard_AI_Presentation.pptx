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SPEAKER SCRIPT:</a:t>
            </a:r>
          </a:p>
          <a:p>
            <a:r>
              <a:t>Good morning/afternoon, evaluators. My name is Dhanush Bheemsetty. Today I am presenting my solution for the Spam and Abuse Filter for Comments, designed for ITC Infotech's Eminence Drive.</a:t>
            </a:r>
          </a:p>
          <a:p/>
          <a:p>
            <a:r>
              <a:t>Let us look at the core challenge: A cooking video platform receives 20,000 user comments per day. However, the platform has only 2 human moderators. In an 8-hour workday, two moderators can realistically review around 1,000 to 1,200 comments. Manually checking 20,000 comments is physically impossible.</a:t>
            </a:r>
          </a:p>
          <a:p/>
          <a:p>
            <a:r>
              <a:t>My solution is CommentGuard AI: a 3-tier cascade combining deterministic AI rules, classical machine learning, and a small transformer (DistilBERT). It automatically processes 94% of traffic with high precision, leaving only around 320 truly ambiguous comments for the two moderators to review. Let me walk you through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SCRIPT:</a:t>
            </a:r>
          </a:p>
          <a:p>
            <a:r>
              <a:t>Now let's examine the 3-Tier Architecture. In machine learning, AI is the broad concept, ML is pattern learning, and Deep Learning uses multi-layer neural networks. Our design cascades all three.</a:t>
            </a:r>
          </a:p>
          <a:p/>
          <a:p>
            <a:r>
              <a:t>Tier 1 is Deterministic AI Rules. It runs in 1.2 milliseconds. It catches obvious bit.ly links, telegram handles, and explicit profanity at zero cost. It also contains our cooking allowlist to protect phrases like 'kill the heat'.</a:t>
            </a:r>
          </a:p>
          <a:p/>
          <a:p>
            <a:r>
              <a:t>Tier 2 is Classical ML. Using TF-IDF, caps ratio, and Logistic Regression, it scores bulk traffic in 4.8 milliseconds. For example, 'DM ME FOR CHEAP FOLLOWERS' has high caps and promo keywords, scoring 94% spam.</a:t>
            </a:r>
          </a:p>
          <a:p/>
          <a:p>
            <a:r>
              <a:t>Tier 3 is our Small Transformer—specifically DistilBERT with 66 million parameters. Why a small transformer instead of a huge LLM? Because DistilBERT runs in just 14 milliseconds on a normal CPU and costs less than $2 a month! Most importantly, it solves context: when someone says 'This recipe is killer, I would die for this!', DistilBERT understands this is enthusiastic praise, NOT violence, preventing false flags.</a:t>
            </a:r>
          </a:p>
          <a:p/>
          <a:p>
            <a:r>
              <a:t>Finally, Tier 4 is the two human moderators. They only receive the ~320 borderline cases where confidence is between 40% and 89%.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SCRIPT:</a:t>
            </a:r>
          </a:p>
          <a:p>
            <a:r>
              <a:t>Slide 3 directly answers the first two questions from your problem statement.</a:t>
            </a:r>
          </a:p>
          <a:p/>
          <a:p>
            <a:r>
              <a:t>Question 1: How do we classify comments? We don't guess. We compute probability distributions P(fine), P(spam), and P(abusive). If confidence is 90% or higher, the AI takes automated action. If confidence is in the uncertain zone between 40% and 89%, it is classified as 'Unclear'.</a:t>
            </a:r>
          </a:p>
          <a:p/>
          <a:p>
            <a:r>
              <a:t>Question 2: What should happen to each category?</a:t>
            </a:r>
          </a:p>
          <a:p>
            <a:r>
              <a:t>1. Fine comments—which make up about 57% or 11,400 comments—are auto-published immediately so genuine viewers aren't delayed.</a:t>
            </a:r>
          </a:p>
          <a:p>
            <a:r>
              <a:t>2. Spam comments—about 21%—are auto-hidden and logged, triggering shadowbans if repeated.</a:t>
            </a:r>
          </a:p>
          <a:p>
            <a:r>
              <a:t>3. Abusive comments—about 5%—are auto-hidden and flagged for policy review, issuing account strikes.</a:t>
            </a:r>
          </a:p>
          <a:p>
            <a:r>
              <a:t>4. Unclear comments—the top 320 borderline cases—are routed to our 2 moderators. 160 comments each is very achievable in less than an hour, completely solving the human bottleneck.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SCRIPT:</a:t>
            </a:r>
          </a:p>
          <a:p>
            <a:r>
              <a:t>Slide 4 addresses the remaining two questions: avoiding false positives and staying ahead of evolving spam.</a:t>
            </a:r>
          </a:p>
          <a:p/>
          <a:p>
            <a:r>
              <a:t>Question 3: How do we avoid hiding genuine comments? On cooking channels, words like 'kill the heat' or 'beat the eggs' look aggressive to dumb keyword filters. DistilBERT solves this with context awareness. Furthermore, we require 90% confidence to auto-hide. If there is doubt, we default to sending it to the human queue rather than hiding a fan's comment.</a:t>
            </a:r>
          </a:p>
          <a:p/>
          <a:p>
            <a:r>
              <a:t>Question 4: How do we keep up with new spam tricks? Spammers constantly mutate patterns using spaces like c-h-e-a-p or redirect links. We handle this through adversarial text normalization and an active learning loop. The 2 moderators generate ~300 verified labels daily. Every week, DistilBERT is fine-tuned on these labels in under 5 minutes, ensuring the model adapts continuously to new spam trends.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SCRIPT:</a:t>
            </a:r>
          </a:p>
          <a:p>
            <a:r>
              <a:t>To conclude, I didn't just design the theory—I built and deployed the full working system. The live prototype is accessible right now at https://commentguard-ai.onrender.com/.</a:t>
            </a:r>
          </a:p>
          <a:p/>
          <a:p>
            <a:r>
              <a:t>In this prototype, you can fetch comments from real cooking videos, test any raw input sentence live to see the millisecond layer breakdown, review borderline comments in the moderator queue, and run a simulated weekly retraining loop.</a:t>
            </a:r>
          </a:p>
          <a:p/>
          <a:p>
            <a:r>
              <a:t>Thank you so much for your time and consideration. I would be thrilled to demonstrate the live system now or answer any technical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mmentguard-ai.onrender.com/" TargetMode="Externa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2011680"/>
          </a:xfrm>
          <a:prstGeom prst="rect">
            <a:avLst/>
          </a:prstGeom>
          <a:noFill/>
        </p:spPr>
        <p:txBody>
          <a:bodyPr wrap="square">
            <a:spAutoFit/>
          </a:bodyPr>
          <a:lstStyle/>
          <a:p>
            <a:pPr>
              <a:defRPr sz="1100" b="1">
                <a:solidFill>
                  <a:srgbClr val="D97706"/>
                </a:solidFill>
              </a:defRPr>
            </a:pPr>
            <a:r>
              <a:t>ITC INFOTECH · EMINENCE CAMPUS DRIVE 2026 | INTERVIEW PRESENTATION</a:t>
            </a:r>
          </a:p>
          <a:p>
            <a:pPr>
              <a:defRPr sz="3200" b="1">
                <a:solidFill>
                  <a:srgbClr val="0F172A"/>
                </a:solidFill>
              </a:defRPr>
            </a:pPr>
            <a:r>
              <a:t>CommentGuard AI: Spam &amp; Abuse Filter</a:t>
            </a:r>
          </a:p>
          <a:p>
            <a:pPr>
              <a:spcBef>
                <a:spcPts val="400"/>
              </a:spcBef>
              <a:defRPr sz="1300" b="1">
                <a:solidFill>
                  <a:srgbClr val="059669"/>
                </a:solidFill>
              </a:defRPr>
            </a:pPr>
            <a:r>
              <a:t>Candidate: Dhanush Bheemsetty  |  Email: dhanushbheemisetty0@gmail.com  |  Reg. No: 2200030834</a:t>
            </a:r>
          </a:p>
        </p:txBody>
      </p:sp>
      <p:sp>
        <p:nvSpPr>
          <p:cNvPr id="4" name="Rounded Rectangle 3"/>
          <p:cNvSpPr/>
          <p:nvPr/>
        </p:nvSpPr>
        <p:spPr>
          <a:xfrm>
            <a:off x="731520" y="2651760"/>
            <a:ext cx="521208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834640"/>
            <a:ext cx="4754880" cy="3200400"/>
          </a:xfrm>
          <a:prstGeom prst="rect">
            <a:avLst/>
          </a:prstGeom>
          <a:noFill/>
        </p:spPr>
        <p:txBody>
          <a:bodyPr wrap="square">
            <a:spAutoFit/>
          </a:bodyPr>
          <a:lstStyle/>
          <a:p>
            <a:pPr>
              <a:defRPr sz="1600" b="1">
                <a:solidFill>
                  <a:srgbClr val="E11D48"/>
                </a:solidFill>
              </a:defRPr>
            </a:pPr>
            <a:r>
              <a:t>The Problem Statement (In Simple Words)</a:t>
            </a:r>
          </a:p>
          <a:p>
            <a:pPr>
              <a:spcBef>
                <a:spcPts val="600"/>
              </a:spcBef>
              <a:defRPr b="1" sz="1100">
                <a:solidFill>
                  <a:srgbClr val="0F172A"/>
                </a:solidFill>
              </a:defRPr>
            </a:pPr>
            <a:r>
              <a:t>• High Daily Traffic: </a:t>
            </a:r>
          </a:p>
          <a:p>
            <a:pPr>
              <a:defRPr sz="1050">
                <a:solidFill>
                  <a:srgbClr val="64748B"/>
                </a:solidFill>
              </a:defRPr>
            </a:pPr>
            <a:r>
              <a:t>A popular cooking video platform receives 20,000 user comments every single day.</a:t>
            </a:r>
          </a:p>
          <a:p>
            <a:pPr>
              <a:spcBef>
                <a:spcPts val="600"/>
              </a:spcBef>
              <a:defRPr b="1" sz="1100">
                <a:solidFill>
                  <a:srgbClr val="0F172A"/>
                </a:solidFill>
              </a:defRPr>
            </a:pPr>
            <a:r>
              <a:t>• Polluted Comments: </a:t>
            </a:r>
          </a:p>
          <a:p>
            <a:pPr>
              <a:defRPr sz="1050">
                <a:solidFill>
                  <a:srgbClr val="64748B"/>
                </a:solidFill>
              </a:defRPr>
            </a:pPr>
            <a:r>
              <a:t>Many comments contain spam links, fake follower ads, and abusive hate speech targeting creators.</a:t>
            </a:r>
          </a:p>
          <a:p>
            <a:pPr>
              <a:spcBef>
                <a:spcPts val="600"/>
              </a:spcBef>
              <a:defRPr b="1" sz="1100">
                <a:solidFill>
                  <a:srgbClr val="0F172A"/>
                </a:solidFill>
              </a:defRPr>
            </a:pPr>
            <a:r>
              <a:t>• The Human Bottleneck: </a:t>
            </a:r>
          </a:p>
          <a:p>
            <a:pPr>
              <a:defRPr sz="1050">
                <a:solidFill>
                  <a:srgbClr val="64748B"/>
                </a:solidFill>
              </a:defRPr>
            </a:pPr>
            <a:r>
              <a:t>There are only 2 human moderators. Two people can realistically review at most ~1,000 comments/day.</a:t>
            </a:r>
          </a:p>
          <a:p>
            <a:pPr>
              <a:spcBef>
                <a:spcPts val="600"/>
              </a:spcBef>
              <a:defRPr b="1" sz="1100">
                <a:solidFill>
                  <a:srgbClr val="0F172A"/>
                </a:solidFill>
              </a:defRPr>
            </a:pPr>
            <a:r>
              <a:t>• The Core Dilemma: </a:t>
            </a:r>
          </a:p>
          <a:p>
            <a:pPr>
              <a:defRPr sz="1050">
                <a:solidFill>
                  <a:srgbClr val="64748B"/>
                </a:solidFill>
              </a:defRPr>
            </a:pPr>
            <a:r>
              <a:t>Manual review of 20,000 comments is impossible. We need AI to automate the safe &amp; bad, and send only the unclear ones to humans.</a:t>
            </a:r>
          </a:p>
        </p:txBody>
      </p:sp>
      <p:sp>
        <p:nvSpPr>
          <p:cNvPr id="6" name="Rounded Rectangle 5"/>
          <p:cNvSpPr/>
          <p:nvPr/>
        </p:nvSpPr>
        <p:spPr>
          <a:xfrm>
            <a:off x="6217920" y="2651760"/>
            <a:ext cx="521208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834640"/>
            <a:ext cx="4754880" cy="3200400"/>
          </a:xfrm>
          <a:prstGeom prst="rect">
            <a:avLst/>
          </a:prstGeom>
          <a:noFill/>
        </p:spPr>
        <p:txBody>
          <a:bodyPr wrap="square">
            <a:spAutoFit/>
          </a:bodyPr>
          <a:lstStyle/>
          <a:p>
            <a:pPr>
              <a:defRPr sz="1600" b="1">
                <a:solidFill>
                  <a:srgbClr val="059669"/>
                </a:solidFill>
              </a:defRPr>
            </a:pPr>
            <a:r>
              <a:t>The Proposed Solution (In Simple Words)</a:t>
            </a:r>
          </a:p>
          <a:p>
            <a:pPr>
              <a:spcBef>
                <a:spcPts val="600"/>
              </a:spcBef>
              <a:defRPr b="1" sz="1100">
                <a:solidFill>
                  <a:srgbClr val="0F172A"/>
                </a:solidFill>
              </a:defRPr>
            </a:pPr>
            <a:r>
              <a:t>• 3-Tier AI Cascade: </a:t>
            </a:r>
          </a:p>
          <a:p>
            <a:pPr>
              <a:defRPr sz="1050">
                <a:solidFill>
                  <a:srgbClr val="64748B"/>
                </a:solidFill>
              </a:defRPr>
            </a:pPr>
            <a:r>
              <a:t>Instead of using one heavy model, we chain 3 smart filters: Rules -&gt; Fast Machine Learning -&gt; Small Deep Learning.</a:t>
            </a:r>
          </a:p>
          <a:p>
            <a:pPr>
              <a:spcBef>
                <a:spcPts val="600"/>
              </a:spcBef>
              <a:defRPr b="1" sz="1100">
                <a:solidFill>
                  <a:srgbClr val="0F172A"/>
                </a:solidFill>
              </a:defRPr>
            </a:pPr>
            <a:r>
              <a:t>• 94% Automated Action: </a:t>
            </a:r>
          </a:p>
          <a:p>
            <a:pPr>
              <a:defRPr sz="1050">
                <a:solidFill>
                  <a:srgbClr val="64748B"/>
                </a:solidFill>
              </a:defRPr>
            </a:pPr>
            <a:r>
              <a:t>18,800 comments are handled automatically: safe comments publish instantly, and obvious spam/slurs are hidden.</a:t>
            </a:r>
          </a:p>
          <a:p>
            <a:pPr>
              <a:spcBef>
                <a:spcPts val="600"/>
              </a:spcBef>
              <a:defRPr b="1" sz="1100">
                <a:solidFill>
                  <a:srgbClr val="0F172A"/>
                </a:solidFill>
              </a:defRPr>
            </a:pPr>
            <a:r>
              <a:t>• Manageable Human Queue: </a:t>
            </a:r>
          </a:p>
          <a:p>
            <a:pPr>
              <a:defRPr sz="1050">
                <a:solidFill>
                  <a:srgbClr val="64748B"/>
                </a:solidFill>
              </a:defRPr>
            </a:pPr>
            <a:r>
              <a:t>Only ~320 borderline/unclear comments reach the 2 moderators (~160 each, taking under 45 minutes daily).</a:t>
            </a:r>
          </a:p>
          <a:p>
            <a:pPr>
              <a:spcBef>
                <a:spcPts val="600"/>
              </a:spcBef>
              <a:defRPr b="1" sz="1100">
                <a:solidFill>
                  <a:srgbClr val="0F172A"/>
                </a:solidFill>
              </a:defRPr>
            </a:pPr>
            <a:r>
              <a:t>• Active Learning Loop: </a:t>
            </a:r>
          </a:p>
          <a:p>
            <a:pPr>
              <a:defRPr sz="1050">
                <a:solidFill>
                  <a:srgbClr val="64748B"/>
                </a:solidFill>
              </a:defRPr>
            </a:pPr>
            <a:r>
              <a:t>Every decision made by the 2 moderators feeds back into weekly retraining so the AI continuously learns new tricks.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51560"/>
          </a:xfrm>
          <a:prstGeom prst="rect">
            <a:avLst/>
          </a:prstGeom>
          <a:noFill/>
        </p:spPr>
        <p:txBody>
          <a:bodyPr wrap="square" lIns="0" tIns="0" rIns="0" bIns="0">
            <a:spAutoFit/>
          </a:bodyPr>
          <a:lstStyle/>
          <a:p>
            <a:pPr>
              <a:defRPr sz="1050" b="1">
                <a:solidFill>
                  <a:srgbClr val="D97706"/>
                </a:solidFill>
              </a:defRPr>
            </a:pPr>
            <a:r>
              <a:t>ITC INFOTECH · EMINENCE CAMPUS DRIVE 2026 | SYSTEM ARCHITECTURE &amp; FLOW</a:t>
            </a:r>
          </a:p>
          <a:p>
            <a:pPr>
              <a:defRPr sz="2300" b="1">
                <a:solidFill>
                  <a:srgbClr val="0F172A"/>
                </a:solidFill>
              </a:defRPr>
            </a:pPr>
            <a:r>
              <a:t>The 3-Tier Cascade Architecture (AI ⊃ ML ⊃ DL)</a:t>
            </a:r>
          </a:p>
        </p:txBody>
      </p:sp>
      <p:sp>
        <p:nvSpPr>
          <p:cNvPr id="4" name="Rounded Rectangle 3"/>
          <p:cNvSpPr/>
          <p:nvPr/>
        </p:nvSpPr>
        <p:spPr>
          <a:xfrm>
            <a:off x="731520" y="1600200"/>
            <a:ext cx="10728655" cy="5943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10515600" cy="502920"/>
          </a:xfrm>
          <a:prstGeom prst="rect">
            <a:avLst/>
          </a:prstGeom>
          <a:noFill/>
        </p:spPr>
        <p:txBody>
          <a:bodyPr wrap="square">
            <a:spAutoFit/>
          </a:bodyPr>
          <a:lstStyle/>
          <a:p>
            <a:pPr>
              <a:defRPr sz="1100" b="1">
                <a:solidFill>
                  <a:srgbClr val="0F172A"/>
                </a:solidFill>
              </a:defRPr>
            </a:pPr>
            <a:r>
              <a:t>⚡ Incoming Comment (20k/day)  →  Tier 1: Rules (1ms)  →  Tier 2: ML (5ms)  →  Tier 3: DistilBERT (14ms)  →  2 Human Moderators (320/day)</a:t>
            </a:r>
          </a:p>
        </p:txBody>
      </p:sp>
      <p:sp>
        <p:nvSpPr>
          <p:cNvPr id="6" name="Rounded Rectangle 5"/>
          <p:cNvSpPr/>
          <p:nvPr/>
        </p:nvSpPr>
        <p:spPr>
          <a:xfrm>
            <a:off x="731520" y="2377440"/>
            <a:ext cx="2560320" cy="41148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194560" cy="3749040"/>
          </a:xfrm>
          <a:prstGeom prst="rect">
            <a:avLst/>
          </a:prstGeom>
          <a:noFill/>
        </p:spPr>
        <p:txBody>
          <a:bodyPr wrap="square">
            <a:spAutoFit/>
          </a:bodyPr>
          <a:lstStyle/>
          <a:p>
            <a:pPr>
              <a:defRPr sz="1200" b="1">
                <a:solidFill>
                  <a:srgbClr val="0F172A"/>
                </a:solidFill>
              </a:defRPr>
            </a:pPr>
            <a:r>
              <a:t>Tier 1: Deterministic AI Rules</a:t>
            </a:r>
          </a:p>
          <a:p>
            <a:pPr>
              <a:defRPr sz="950" b="1">
                <a:solidFill>
                  <a:srgbClr val="64748B"/>
                </a:solidFill>
              </a:defRPr>
            </a:pPr>
            <a:r>
              <a:t>Classic AI (No Learning)</a:t>
            </a:r>
          </a:p>
          <a:p>
            <a:pPr>
              <a:spcBef>
                <a:spcPts val="800"/>
              </a:spcBef>
              <a:defRPr sz="950">
                <a:solidFill>
                  <a:srgbClr val="0F172A"/>
                </a:solidFill>
              </a:defRPr>
            </a:pPr>
            <a:r>
              <a:t>Fast frontline sieve catching obvious patterns.</a:t>
            </a:r>
            <a:br/>
            <a:br/>
            <a:r>
              <a:t>Usage:</a:t>
            </a:r>
            <a:br/>
            <a:r>
              <a:t>Scans for redirect links, promotional phone numbers, and slur blocklists. Also holds a culinary allowlist ('beat eggs', 'kill heat').</a:t>
            </a:r>
            <a:br/>
            <a:br/>
            <a:r>
              <a:t>Concrete Example:</a:t>
            </a:r>
            <a:br/>
            <a:r>
              <a:t>'Win a free iPhone! bit.ly/knife-gift' -&gt; Matched URL regex -&gt; Auto-Hidden instantly.</a:t>
            </a:r>
            <a:br/>
            <a:br/>
            <a:r>
              <a:t>Key Words:</a:t>
            </a:r>
            <a:br/>
            <a:r>
              <a:t>Regex, Blocklists, Obvious Sieve, ~1.2ms Latency, 50-60% Volume, Free Compute.</a:t>
            </a:r>
          </a:p>
        </p:txBody>
      </p:sp>
      <p:sp>
        <p:nvSpPr>
          <p:cNvPr id="8" name="Rounded Rectangle 7"/>
          <p:cNvSpPr/>
          <p:nvPr/>
        </p:nvSpPr>
        <p:spPr>
          <a:xfrm>
            <a:off x="3429000" y="2377440"/>
            <a:ext cx="2560320" cy="41148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2560320"/>
            <a:ext cx="2194560" cy="3749040"/>
          </a:xfrm>
          <a:prstGeom prst="rect">
            <a:avLst/>
          </a:prstGeom>
          <a:noFill/>
        </p:spPr>
        <p:txBody>
          <a:bodyPr wrap="square">
            <a:spAutoFit/>
          </a:bodyPr>
          <a:lstStyle/>
          <a:p>
            <a:pPr>
              <a:defRPr sz="1200" b="1">
                <a:solidFill>
                  <a:srgbClr val="D97706"/>
                </a:solidFill>
              </a:defRPr>
            </a:pPr>
            <a:r>
              <a:t>Tier 2: Classical Machine Learning</a:t>
            </a:r>
          </a:p>
          <a:p>
            <a:pPr>
              <a:defRPr sz="950" b="1">
                <a:solidFill>
                  <a:srgbClr val="64748B"/>
                </a:solidFill>
              </a:defRPr>
            </a:pPr>
            <a:r>
              <a:t>Statistical Feature Scoring</a:t>
            </a:r>
          </a:p>
          <a:p>
            <a:pPr>
              <a:spcBef>
                <a:spcPts val="800"/>
              </a:spcBef>
              <a:defRPr sz="950">
                <a:solidFill>
                  <a:srgbClr val="0F172A"/>
                </a:solidFill>
              </a:defRPr>
            </a:pPr>
            <a:r>
              <a:t>Probabilistic workhorse handling bulk text.</a:t>
            </a:r>
            <a:br/>
            <a:br/>
            <a:r>
              <a:t>Usage:</a:t>
            </a:r>
            <a:br/>
            <a:r>
              <a:t>Extracts text features: shouting caps ratio, punctuation intensity, and TF-IDF word n-grams with Logistic Regression.</a:t>
            </a:r>
            <a:br/>
            <a:br/>
            <a:r>
              <a:t>Concrete Example:</a:t>
            </a:r>
            <a:br/>
            <a:r>
              <a:t>'DM ME FOR CHEAP FOLLOWERS NOW!!!!' -&gt; High caps + promo tokens -&gt; ML Spam Prior 94%.</a:t>
            </a:r>
            <a:br/>
            <a:br/>
            <a:r>
              <a:t>Key Words:</a:t>
            </a:r>
            <a:br/>
            <a:r>
              <a:t>TF-IDF, Caps Ratio, Logistic Regression, Prior Probability, ~4.8ms Latency.</a:t>
            </a:r>
          </a:p>
        </p:txBody>
      </p:sp>
      <p:sp>
        <p:nvSpPr>
          <p:cNvPr id="10" name="Rounded Rectangle 9"/>
          <p:cNvSpPr/>
          <p:nvPr/>
        </p:nvSpPr>
        <p:spPr>
          <a:xfrm>
            <a:off x="6126480" y="2377440"/>
            <a:ext cx="256032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2560320"/>
            <a:ext cx="2194560" cy="3749040"/>
          </a:xfrm>
          <a:prstGeom prst="rect">
            <a:avLst/>
          </a:prstGeom>
          <a:noFill/>
        </p:spPr>
        <p:txBody>
          <a:bodyPr wrap="square">
            <a:spAutoFit/>
          </a:bodyPr>
          <a:lstStyle/>
          <a:p>
            <a:pPr>
              <a:defRPr sz="1200" b="1">
                <a:solidFill>
                  <a:srgbClr val="059669"/>
                </a:solidFill>
              </a:defRPr>
            </a:pPr>
            <a:r>
              <a:t>Tier 3: Small Transformer</a:t>
            </a:r>
          </a:p>
          <a:p>
            <a:pPr>
              <a:defRPr sz="950" b="1">
                <a:solidFill>
                  <a:srgbClr val="64748B"/>
                </a:solidFill>
              </a:defRPr>
            </a:pPr>
            <a:r>
              <a:t>DistilBERT Semantic Context</a:t>
            </a:r>
          </a:p>
          <a:p>
            <a:pPr>
              <a:spcBef>
                <a:spcPts val="800"/>
              </a:spcBef>
              <a:defRPr sz="950">
                <a:solidFill>
                  <a:srgbClr val="0F172A"/>
                </a:solidFill>
              </a:defRPr>
            </a:pPr>
            <a:r>
              <a:t>Deep language understanding specialist.</a:t>
            </a:r>
            <a:br/>
            <a:br/>
            <a:r>
              <a:t>Usage:</a:t>
            </a:r>
            <a:br/>
            <a:r>
              <a:t>Evaluates full sentence context and slang. Specifically resolves cooking idioms so genuine compliments are never hidden.</a:t>
            </a:r>
            <a:br/>
            <a:br/>
            <a:r>
              <a:t>Concrete Example:</a:t>
            </a:r>
            <a:br/>
            <a:r>
              <a:t>'This recipe is killer, I would die for this risotto!' -&gt; Context acclaim -&gt; Auto-Published (98%).</a:t>
            </a:r>
            <a:br/>
            <a:br/>
            <a:r>
              <a:t>Key Words:</a:t>
            </a:r>
            <a:br/>
            <a:r>
              <a:t>DistilBERT (66M params), Context Attention, ~14.5ms CPU, Cooking Nuance.</a:t>
            </a:r>
          </a:p>
        </p:txBody>
      </p:sp>
      <p:sp>
        <p:nvSpPr>
          <p:cNvPr id="12" name="Rounded Rectangle 11"/>
          <p:cNvSpPr/>
          <p:nvPr/>
        </p:nvSpPr>
        <p:spPr>
          <a:xfrm>
            <a:off x="8823960" y="2377440"/>
            <a:ext cx="2560320" cy="4114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2560320"/>
            <a:ext cx="2194560" cy="3749040"/>
          </a:xfrm>
          <a:prstGeom prst="rect">
            <a:avLst/>
          </a:prstGeom>
          <a:noFill/>
        </p:spPr>
        <p:txBody>
          <a:bodyPr wrap="square">
            <a:spAutoFit/>
          </a:bodyPr>
          <a:lstStyle/>
          <a:p>
            <a:pPr>
              <a:defRPr sz="1200" b="1">
                <a:solidFill>
                  <a:srgbClr val="2563EB"/>
                </a:solidFill>
              </a:defRPr>
            </a:pPr>
            <a:r>
              <a:t>Tier 4: Human-in-the-Loop</a:t>
            </a:r>
          </a:p>
          <a:p>
            <a:pPr>
              <a:defRPr sz="950" b="1">
                <a:solidFill>
                  <a:srgbClr val="64748B"/>
                </a:solidFill>
              </a:defRPr>
            </a:pPr>
            <a:r>
              <a:t>2 Moderators (~320 cases/day)</a:t>
            </a:r>
          </a:p>
          <a:p>
            <a:pPr>
              <a:spcBef>
                <a:spcPts val="800"/>
              </a:spcBef>
              <a:defRPr sz="950">
                <a:solidFill>
                  <a:srgbClr val="0F172A"/>
                </a:solidFill>
              </a:defRPr>
            </a:pPr>
            <a:r>
              <a:t>The final safety net for genuine ambiguity.</a:t>
            </a:r>
            <a:br/>
            <a:br/>
            <a:r>
              <a:t>Usage:</a:t>
            </a:r>
            <a:br/>
            <a:r>
              <a:t>Reviews comments where AI confidence is between 40% and 89%. Top ~160 cases per moderator daily.</a:t>
            </a:r>
            <a:br/>
            <a:br/>
            <a:r>
              <a:t>Concrete Example:</a:t>
            </a:r>
            <a:br/>
            <a:r>
              <a:t>'This timing seems weird... not sure about step 2' -&gt; Ambiguous sentiment -&gt; Human verifies.</a:t>
            </a:r>
            <a:br/>
            <a:br/>
            <a:r>
              <a:t>Key Words:</a:t>
            </a:r>
            <a:br/>
            <a:r>
              <a:t>Human-in-the-Loop, Active Learning, Labeled Dataset, Weekly Retraining.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51560"/>
          </a:xfrm>
          <a:prstGeom prst="rect">
            <a:avLst/>
          </a:prstGeom>
          <a:noFill/>
        </p:spPr>
        <p:txBody>
          <a:bodyPr wrap="square" lIns="0" tIns="0" rIns="0" bIns="0">
            <a:spAutoFit/>
          </a:bodyPr>
          <a:lstStyle/>
          <a:p>
            <a:pPr>
              <a:defRPr sz="1050" b="1">
                <a:solidFill>
                  <a:srgbClr val="D97706"/>
                </a:solidFill>
              </a:defRPr>
            </a:pPr>
            <a:r>
              <a:t>ITC INFOTECH · EMINENCE CAMPUS DRIVE 2026 | QUESTION 1 &amp; QUESTION 2</a:t>
            </a:r>
          </a:p>
          <a:p>
            <a:pPr>
              <a:defRPr sz="2300" b="1">
                <a:solidFill>
                  <a:srgbClr val="0F172A"/>
                </a:solidFill>
              </a:defRPr>
            </a:pPr>
            <a:r>
              <a:t>Classification Strategy &amp; Automated Action Workflows</a:t>
            </a:r>
          </a:p>
        </p:txBody>
      </p:sp>
      <p:sp>
        <p:nvSpPr>
          <p:cNvPr id="4" name="Rounded Rectangle 3"/>
          <p:cNvSpPr/>
          <p:nvPr/>
        </p:nvSpPr>
        <p:spPr>
          <a:xfrm>
            <a:off x="731520" y="1600200"/>
            <a:ext cx="10728655"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37360"/>
            <a:ext cx="10241280" cy="1737360"/>
          </a:xfrm>
          <a:prstGeom prst="rect">
            <a:avLst/>
          </a:prstGeom>
          <a:noFill/>
        </p:spPr>
        <p:txBody>
          <a:bodyPr wrap="square">
            <a:spAutoFit/>
          </a:bodyPr>
          <a:lstStyle/>
          <a:p>
            <a:pPr>
              <a:defRPr sz="1500" b="1">
                <a:solidFill>
                  <a:srgbClr val="0F172A"/>
                </a:solidFill>
              </a:defRPr>
            </a:pPr>
            <a:r>
              <a:t>Question 1: How would you classify comments as Fine, Spam, Abusive, or Unclear?</a:t>
            </a:r>
          </a:p>
          <a:p>
            <a:pPr>
              <a:spcBef>
                <a:spcPts val="600"/>
              </a:spcBef>
              <a:defRPr sz="1050">
                <a:solidFill>
                  <a:srgbClr val="64748B"/>
                </a:solidFill>
              </a:defRPr>
            </a:pPr>
            <a:r>
              <a:t>We use a multi-tiered scoring pipeline that produces calibrated class probabilities: P(fine), P(spam), and P(abusive). Classification is determined through calibrated confidence thresholds:</a:t>
            </a:r>
            <a:br/>
            <a:r>
              <a:t>• FINE: P(fine) ≥ 0.90 with zero rule violations (e.g., 'Can I use oat milk instead of regular milk?').</a:t>
            </a:r>
            <a:br/>
            <a:r>
              <a:t>• SPAM: P(spam) ≥ 0.90 or verified commercial link shortener (e.g., 'Click bit.ly/knife-deal now').</a:t>
            </a:r>
            <a:br/>
            <a:r>
              <a:t>• ABUSIVE: P(abusive) ≥ 0.90 with identified harassment intent (e.g., 'You're an idiot, nobody should listen to you').</a:t>
            </a:r>
            <a:br/>
            <a:r>
              <a:t>• UNCLEAR: Confidence falls between 0.40 and 0.89, or conflicting signals exist (e.g., 'Wow, genius idea...').</a:t>
            </a:r>
          </a:p>
        </p:txBody>
      </p:sp>
      <p:sp>
        <p:nvSpPr>
          <p:cNvPr id="6" name="Rounded Rectangle 5"/>
          <p:cNvSpPr/>
          <p:nvPr/>
        </p:nvSpPr>
        <p:spPr>
          <a:xfrm>
            <a:off x="731520" y="3794760"/>
            <a:ext cx="2560320" cy="26974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959352"/>
            <a:ext cx="2231136" cy="2368296"/>
          </a:xfrm>
          <a:prstGeom prst="rect">
            <a:avLst/>
          </a:prstGeom>
          <a:noFill/>
        </p:spPr>
        <p:txBody>
          <a:bodyPr wrap="square">
            <a:spAutoFit/>
          </a:bodyPr>
          <a:lstStyle/>
          <a:p>
            <a:pPr>
              <a:defRPr sz="1100" b="1">
                <a:solidFill>
                  <a:srgbClr val="059669"/>
                </a:solidFill>
              </a:defRPr>
            </a:pPr>
            <a:r>
              <a:t>FINE (57% · 11,400/day)</a:t>
            </a:r>
          </a:p>
          <a:p>
            <a:pPr>
              <a:spcBef>
                <a:spcPts val="200"/>
              </a:spcBef>
              <a:defRPr sz="1150" b="1">
                <a:solidFill>
                  <a:srgbClr val="0F172A"/>
                </a:solidFill>
              </a:defRPr>
            </a:pPr>
            <a:r>
              <a:t>Action: AUTO-PUBLISH</a:t>
            </a:r>
          </a:p>
          <a:p>
            <a:pPr>
              <a:spcBef>
                <a:spcPts val="600"/>
              </a:spcBef>
              <a:defRPr sz="950">
                <a:solidFill>
                  <a:srgbClr val="64748B"/>
                </a:solidFill>
              </a:defRPr>
            </a:pPr>
            <a:r>
              <a:t>What Happens:</a:t>
            </a:r>
            <a:br/>
            <a:r>
              <a:t>Comment is published immediately and visible on the video. Zero moderator intervention. Zero creator friction.</a:t>
            </a:r>
          </a:p>
        </p:txBody>
      </p:sp>
      <p:sp>
        <p:nvSpPr>
          <p:cNvPr id="8" name="Rounded Rectangle 7"/>
          <p:cNvSpPr/>
          <p:nvPr/>
        </p:nvSpPr>
        <p:spPr>
          <a:xfrm>
            <a:off x="3429000" y="3794760"/>
            <a:ext cx="2560320" cy="26974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3959352"/>
            <a:ext cx="2231136" cy="2368296"/>
          </a:xfrm>
          <a:prstGeom prst="rect">
            <a:avLst/>
          </a:prstGeom>
          <a:noFill/>
        </p:spPr>
        <p:txBody>
          <a:bodyPr wrap="square">
            <a:spAutoFit/>
          </a:bodyPr>
          <a:lstStyle/>
          <a:p>
            <a:pPr>
              <a:defRPr sz="1100" b="1">
                <a:solidFill>
                  <a:srgbClr val="D97706"/>
                </a:solidFill>
              </a:defRPr>
            </a:pPr>
            <a:r>
              <a:t>SPAM (21% · 4,200/day)</a:t>
            </a:r>
          </a:p>
          <a:p>
            <a:pPr>
              <a:spcBef>
                <a:spcPts val="200"/>
              </a:spcBef>
              <a:defRPr sz="1150" b="1">
                <a:solidFill>
                  <a:srgbClr val="0F172A"/>
                </a:solidFill>
              </a:defRPr>
            </a:pPr>
            <a:r>
              <a:t>Action: AUTO-HIDE &amp; LOG</a:t>
            </a:r>
          </a:p>
          <a:p>
            <a:pPr>
              <a:spcBef>
                <a:spcPts val="600"/>
              </a:spcBef>
              <a:defRPr sz="950">
                <a:solidFill>
                  <a:srgbClr val="64748B"/>
                </a:solidFill>
              </a:defRPr>
            </a:pPr>
            <a:r>
              <a:t>What Happens:</a:t>
            </a:r>
            <a:br/>
            <a:r>
              <a:t>Hidden from public view immediately. Offender logged; repeat offenses trigger temporary shadowbans or CAPTCHAs.</a:t>
            </a:r>
          </a:p>
        </p:txBody>
      </p:sp>
      <p:sp>
        <p:nvSpPr>
          <p:cNvPr id="10" name="Rounded Rectangle 9"/>
          <p:cNvSpPr/>
          <p:nvPr/>
        </p:nvSpPr>
        <p:spPr>
          <a:xfrm>
            <a:off x="6126480" y="3794760"/>
            <a:ext cx="2560320" cy="26974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3959352"/>
            <a:ext cx="2231136" cy="2368296"/>
          </a:xfrm>
          <a:prstGeom prst="rect">
            <a:avLst/>
          </a:prstGeom>
          <a:noFill/>
        </p:spPr>
        <p:txBody>
          <a:bodyPr wrap="square">
            <a:spAutoFit/>
          </a:bodyPr>
          <a:lstStyle/>
          <a:p>
            <a:pPr>
              <a:defRPr sz="1100" b="1">
                <a:solidFill>
                  <a:srgbClr val="E11D48"/>
                </a:solidFill>
              </a:defRPr>
            </a:pPr>
            <a:r>
              <a:t>ABUSIVE (5% · 900/day)</a:t>
            </a:r>
          </a:p>
          <a:p>
            <a:pPr>
              <a:spcBef>
                <a:spcPts val="200"/>
              </a:spcBef>
              <a:defRPr sz="1150" b="1">
                <a:solidFill>
                  <a:srgbClr val="0F172A"/>
                </a:solidFill>
              </a:defRPr>
            </a:pPr>
            <a:r>
              <a:t>Action: AUTO-HIDE &amp; POLICY FLAG</a:t>
            </a:r>
          </a:p>
          <a:p>
            <a:pPr>
              <a:spcBef>
                <a:spcPts val="600"/>
              </a:spcBef>
              <a:defRPr sz="950">
                <a:solidFill>
                  <a:srgbClr val="64748B"/>
                </a:solidFill>
              </a:defRPr>
            </a:pPr>
            <a:r>
              <a:t>What Happens:</a:t>
            </a:r>
            <a:br/>
            <a:r>
              <a:t>Hidden instantly. Account receives a community safety strike; severe toxicity triggers a commenting cooldown.</a:t>
            </a:r>
          </a:p>
        </p:txBody>
      </p:sp>
      <p:sp>
        <p:nvSpPr>
          <p:cNvPr id="12" name="Rounded Rectangle 11"/>
          <p:cNvSpPr/>
          <p:nvPr/>
        </p:nvSpPr>
        <p:spPr>
          <a:xfrm>
            <a:off x="8823960" y="3794760"/>
            <a:ext cx="2560320" cy="2697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88552" y="3959352"/>
            <a:ext cx="2231136" cy="2368296"/>
          </a:xfrm>
          <a:prstGeom prst="rect">
            <a:avLst/>
          </a:prstGeom>
          <a:noFill/>
        </p:spPr>
        <p:txBody>
          <a:bodyPr wrap="square">
            <a:spAutoFit/>
          </a:bodyPr>
          <a:lstStyle/>
          <a:p>
            <a:pPr>
              <a:defRPr sz="1100" b="1">
                <a:solidFill>
                  <a:srgbClr val="2563EB"/>
                </a:solidFill>
              </a:defRPr>
            </a:pPr>
            <a:r>
              <a:t>UNCLEAR (18% · Top 320/day)</a:t>
            </a:r>
          </a:p>
          <a:p>
            <a:pPr>
              <a:spcBef>
                <a:spcPts val="200"/>
              </a:spcBef>
              <a:defRPr sz="1150" b="1">
                <a:solidFill>
                  <a:srgbClr val="0F172A"/>
                </a:solidFill>
              </a:defRPr>
            </a:pPr>
            <a:r>
              <a:t>Action: SEND TO HUMAN QUEUE</a:t>
            </a:r>
          </a:p>
          <a:p>
            <a:pPr>
              <a:spcBef>
                <a:spcPts val="600"/>
              </a:spcBef>
              <a:defRPr sz="950">
                <a:solidFill>
                  <a:srgbClr val="64748B"/>
                </a:solidFill>
              </a:defRPr>
            </a:pPr>
            <a:r>
              <a:t>What Happens:</a:t>
            </a:r>
            <a:br/>
            <a:r>
              <a:t>Queued for the 2 human moderators, prioritized by risk score. Resolving ~160 cases each takes under 45 mins daily.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51560"/>
          </a:xfrm>
          <a:prstGeom prst="rect">
            <a:avLst/>
          </a:prstGeom>
          <a:noFill/>
        </p:spPr>
        <p:txBody>
          <a:bodyPr wrap="square" lIns="0" tIns="0" rIns="0" bIns="0">
            <a:spAutoFit/>
          </a:bodyPr>
          <a:lstStyle/>
          <a:p>
            <a:pPr>
              <a:defRPr sz="1050" b="1">
                <a:solidFill>
                  <a:srgbClr val="D97706"/>
                </a:solidFill>
              </a:defRPr>
            </a:pPr>
            <a:r>
              <a:t>ITC INFOTECH · EMINENCE CAMPUS DRIVE 2026 | QUESTION 3 &amp; QUESTION 4</a:t>
            </a:r>
          </a:p>
          <a:p>
            <a:pPr>
              <a:defRPr sz="2300" b="1">
                <a:solidFill>
                  <a:srgbClr val="0F172A"/>
                </a:solidFill>
              </a:defRPr>
            </a:pPr>
            <a:r>
              <a:t>Avoiding False Hides &amp; Continuous Learning Loop</a:t>
            </a:r>
          </a:p>
        </p:txBody>
      </p:sp>
      <p:sp>
        <p:nvSpPr>
          <p:cNvPr id="4" name="Rounded Rectangle 3"/>
          <p:cNvSpPr/>
          <p:nvPr/>
        </p:nvSpPr>
        <p:spPr>
          <a:xfrm>
            <a:off x="731520" y="164592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754880" cy="4297680"/>
          </a:xfrm>
          <a:prstGeom prst="rect">
            <a:avLst/>
          </a:prstGeom>
          <a:noFill/>
        </p:spPr>
        <p:txBody>
          <a:bodyPr wrap="square">
            <a:spAutoFit/>
          </a:bodyPr>
          <a:lstStyle/>
          <a:p>
            <a:pPr>
              <a:defRPr sz="1500" b="1">
                <a:solidFill>
                  <a:srgbClr val="059669"/>
                </a:solidFill>
              </a:defRPr>
            </a:pPr>
            <a:r>
              <a:t>Question 3: How to avoid hiding genuine comments?</a:t>
            </a:r>
          </a:p>
          <a:p>
            <a:pPr>
              <a:spcBef>
                <a:spcPts val="800"/>
              </a:spcBef>
              <a:defRPr b="1" sz="1100">
                <a:solidFill>
                  <a:srgbClr val="0F172A"/>
                </a:solidFill>
              </a:defRPr>
            </a:pPr>
            <a:r>
              <a:t>• Cooking Lexicon Awareness:</a:t>
            </a:r>
          </a:p>
          <a:p>
            <a:pPr>
              <a:defRPr sz="1000">
                <a:solidFill>
                  <a:srgbClr val="64748B"/>
                </a:solidFill>
              </a:defRPr>
            </a:pPr>
            <a:r>
              <a:t>Cooking videos use violent-sounding words that are actually harmless: 'beat the eggs', 'kill the heat', 'killer recipe', 'to die for'. DistilBERT analyzes whole-sentence context so culinary passion is never mislabeled as violence.</a:t>
            </a:r>
          </a:p>
          <a:p>
            <a:pPr>
              <a:spcBef>
                <a:spcPts val="800"/>
              </a:spcBef>
              <a:defRPr b="1" sz="1100">
                <a:solidFill>
                  <a:srgbClr val="0F172A"/>
                </a:solidFill>
              </a:defRPr>
            </a:pPr>
            <a:r>
              <a:t>• Asymmetric 90% Auto-Hide Threshold:</a:t>
            </a:r>
          </a:p>
          <a:p>
            <a:pPr>
              <a:defRPr sz="1000">
                <a:solidFill>
                  <a:srgbClr val="64748B"/>
                </a:solidFill>
              </a:defRPr>
            </a:pPr>
            <a:r>
              <a:t>We enforce a strict 90% confidence requirement to auto-hide. If the AI is only 75% sure an item is spam, it is NEVER hidden automatically; it is routed to human review. Protecting fan engagement is priority #1.</a:t>
            </a:r>
          </a:p>
          <a:p>
            <a:pPr>
              <a:spcBef>
                <a:spcPts val="800"/>
              </a:spcBef>
              <a:defRPr b="1" sz="1100">
                <a:solidFill>
                  <a:srgbClr val="0F172A"/>
                </a:solidFill>
              </a:defRPr>
            </a:pPr>
            <a:r>
              <a:t>• Creator Controls &amp; One-Click Appeal:</a:t>
            </a:r>
          </a:p>
          <a:p>
            <a:pPr>
              <a:defRPr sz="1000">
                <a:solidFill>
                  <a:srgbClr val="64748B"/>
                </a:solidFill>
              </a:defRPr>
            </a:pPr>
            <a:r>
              <a:t>Creators have a 'Held for Review' panel where they can restore any comment with 1 click. Users can tap 'Appeal Decision'. Overturned decisions are tagged as mislabels and given higher weight during retraining.</a:t>
            </a:r>
          </a:p>
        </p:txBody>
      </p:sp>
      <p:sp>
        <p:nvSpPr>
          <p:cNvPr id="6" name="Rounded Rectangle 5"/>
          <p:cNvSpPr/>
          <p:nvPr/>
        </p:nvSpPr>
        <p:spPr>
          <a:xfrm>
            <a:off x="6217920" y="164592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297680"/>
          </a:xfrm>
          <a:prstGeom prst="rect">
            <a:avLst/>
          </a:prstGeom>
          <a:noFill/>
        </p:spPr>
        <p:txBody>
          <a:bodyPr wrap="square">
            <a:spAutoFit/>
          </a:bodyPr>
          <a:lstStyle/>
          <a:p>
            <a:pPr>
              <a:defRPr sz="1500" b="1">
                <a:solidFill>
                  <a:srgbClr val="D97706"/>
                </a:solidFill>
              </a:defRPr>
            </a:pPr>
            <a:r>
              <a:t>Question 4: How to keep up with new spam tricks?</a:t>
            </a:r>
          </a:p>
          <a:p>
            <a:pPr>
              <a:spcBef>
                <a:spcPts val="800"/>
              </a:spcBef>
              <a:defRPr b="1" sz="1100">
                <a:solidFill>
                  <a:srgbClr val="0F172A"/>
                </a:solidFill>
              </a:defRPr>
            </a:pPr>
            <a:r>
              <a:t>• Active Learning Feedback Loop:</a:t>
            </a:r>
          </a:p>
          <a:p>
            <a:pPr>
              <a:defRPr sz="1000">
                <a:solidFill>
                  <a:srgbClr val="64748B"/>
                </a:solidFill>
              </a:defRPr>
            </a:pPr>
            <a:r>
              <a:t>Every Approve, Hide, or Escalate decision made by the 2 moderators becomes a verified labeled training sample (~300 fresh human labels daily).</a:t>
            </a:r>
          </a:p>
          <a:p>
            <a:pPr>
              <a:spcBef>
                <a:spcPts val="800"/>
              </a:spcBef>
              <a:defRPr b="1" sz="1100">
                <a:solidFill>
                  <a:srgbClr val="0F172A"/>
                </a:solidFill>
              </a:defRPr>
            </a:pPr>
            <a:r>
              <a:t>• Adversarial Text Normalization:</a:t>
            </a:r>
          </a:p>
          <a:p>
            <a:pPr>
              <a:defRPr sz="1000">
                <a:solidFill>
                  <a:srgbClr val="64748B"/>
                </a:solidFill>
              </a:defRPr>
            </a:pPr>
            <a:r>
              <a:t>Spammers try tricks like spacing out words ('c-h-e-a-p'), zero-width Unicode characters, and URL shorteners. Our Tier 1 preprocessor normalizes characters and unshortens links before classification.</a:t>
            </a:r>
          </a:p>
          <a:p>
            <a:pPr>
              <a:spcBef>
                <a:spcPts val="800"/>
              </a:spcBef>
              <a:defRPr b="1" sz="1100">
                <a:solidFill>
                  <a:srgbClr val="0F172A"/>
                </a:solidFill>
              </a:defRPr>
            </a:pPr>
            <a:r>
              <a:t>• Weekly Automated Model Retraining:</a:t>
            </a:r>
          </a:p>
          <a:p>
            <a:pPr>
              <a:defRPr sz="1000">
                <a:solidFill>
                  <a:srgbClr val="64748B"/>
                </a:solidFill>
              </a:defRPr>
            </a:pPr>
            <a:r>
              <a:t>DistilBERT is fine-tuned weekly on fresh moderator labels (takes &lt;5 minutes on CPU). Drift monitoring tracks weekly false positive rates; if drift exceeds 2.5%, thresholds automatically recalibrate.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188720"/>
            <a:ext cx="8899855" cy="4480560"/>
          </a:xfrm>
          <a:prstGeom prst="rect">
            <a:avLst/>
          </a:prstGeom>
          <a:noFill/>
        </p:spPr>
        <p:txBody>
          <a:bodyPr wrap="square">
            <a:spAutoFit/>
          </a:bodyPr>
          <a:lstStyle/>
          <a:p>
            <a:pPr algn="ctr">
              <a:defRPr sz="1200" b="1">
                <a:solidFill>
                  <a:srgbClr val="059669"/>
                </a:solidFill>
              </a:defRPr>
            </a:pPr>
            <a:r>
              <a:t>PROTOTYPE DEPLOYED &amp; LIVE</a:t>
            </a:r>
          </a:p>
          <a:p>
            <a:pPr algn="ctr">
              <a:spcBef>
                <a:spcPts val="400"/>
              </a:spcBef>
              <a:defRPr sz="2800" b="1">
                <a:solidFill>
                  <a:srgbClr val="0F172A"/>
                </a:solidFill>
              </a:defRPr>
            </a:pPr>
            <a:r>
              <a:t>CommentGuard AI Live Working Demo</a:t>
            </a:r>
          </a:p>
          <a:p>
            <a:pPr algn="ctr">
              <a:spcBef>
                <a:spcPts val="800"/>
              </a:spcBef>
              <a:defRPr sz="1200">
                <a:solidFill>
                  <a:srgbClr val="64748B"/>
                </a:solidFill>
              </a:defRPr>
            </a:pPr>
            <a:r>
              <a:t>Click the link below to test the 3-Tier Cascade and Video Ingestion live in your browser:</a:t>
            </a:r>
          </a:p>
          <a:p>
            <a:pPr algn="ctr">
              <a:spcBef>
                <a:spcPts val="1400"/>
              </a:spcBef>
            </a:pPr>
            <a:r>
              <a:rPr sz="1800" b="1" u="sng">
                <a:solidFill>
                  <a:srgbClr val="2563EB"/>
                </a:solidFill>
                <a:hlinkClick r:id="rId2"/>
              </a:rPr>
              <a:t>👉 https://commentguard-ai.onrender.com/ 👈</a:t>
            </a:r>
          </a:p>
          <a:p>
            <a:pPr algn="ctr">
              <a:spcBef>
                <a:spcPts val="2000"/>
              </a:spcBef>
              <a:defRPr sz="1100" b="1">
                <a:solidFill>
                  <a:srgbClr val="059669"/>
                </a:solidFill>
              </a:defRPr>
            </a:pPr>
            <a:r>
              <a:t>✓ 20,000 Comments Daily Handled   |   ✓ 94% Automated   |   ✓ ~20ms Latency   |   ✓ &lt;$2/Month Cost</a:t>
            </a:r>
          </a:p>
          <a:p>
            <a:pPr algn="ctr">
              <a:spcBef>
                <a:spcPts val="2400"/>
              </a:spcBef>
              <a:defRPr sz="2000" b="1">
                <a:solidFill>
                  <a:srgbClr val="0F172A"/>
                </a:solidFill>
              </a:defRPr>
            </a:pPr>
            <a:r>
              <a:t>Thank You! Ready for Questions &amp; Live Demonstration.</a:t>
            </a:r>
          </a:p>
          <a:p>
            <a:pPr algn="ctr">
              <a:spcBef>
                <a:spcPts val="600"/>
              </a:spcBef>
              <a:defRPr sz="1100">
                <a:solidFill>
                  <a:srgbClr val="64748B"/>
                </a:solidFill>
              </a:defRPr>
            </a:pPr>
            <a:r>
              <a:t>Dhanush Bheemsetty · dhanushbheemisetty0@gmail.com · Reg No: 2200030834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